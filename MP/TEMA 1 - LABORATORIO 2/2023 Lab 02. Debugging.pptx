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339" r:id="rId5"/>
    <p:sldId id="261" r:id="rId6"/>
    <p:sldId id="341" r:id="rId7"/>
    <p:sldId id="342" r:id="rId8"/>
    <p:sldId id="343" r:id="rId9"/>
    <p:sldId id="306" r:id="rId10"/>
    <p:sldId id="307" r:id="rId11"/>
  </p:sldIdLst>
  <p:sldSz cx="9144000" cy="6858000" type="screen4x3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gqRKxgHE1dzxZ9dnNhIhzWhzr2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7798" autoAdjust="0"/>
  </p:normalViewPr>
  <p:slideViewPr>
    <p:cSldViewPr snapToGrid="0">
      <p:cViewPr varScale="1">
        <p:scale>
          <a:sx n="100" d="100"/>
          <a:sy n="100" d="100"/>
        </p:scale>
        <p:origin x="26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61" Type="http://customschemas.google.com/relationships/presentationmetadata" Target="metadata"/><Relationship Id="rId10" Type="http://schemas.openxmlformats.org/officeDocument/2006/relationships/slide" Target="slides/slide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9938"/>
            <a:ext cx="5110163" cy="3833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709560" y="4861080"/>
            <a:ext cx="5678640" cy="46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:notes"/>
          <p:cNvSpPr/>
          <p:nvPr/>
        </p:nvSpPr>
        <p:spPr>
          <a:xfrm>
            <a:off x="4021200" y="9721800"/>
            <a:ext cx="3075120" cy="50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9938"/>
            <a:ext cx="5110163" cy="3833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709560" y="4861080"/>
            <a:ext cx="5678640" cy="46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:notes"/>
          <p:cNvSpPr/>
          <p:nvPr/>
        </p:nvSpPr>
        <p:spPr>
          <a:xfrm>
            <a:off x="4021200" y="9721800"/>
            <a:ext cx="3075120" cy="50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9938"/>
            <a:ext cx="5110163" cy="3833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709560" y="4861080"/>
            <a:ext cx="5678640" cy="46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:notes"/>
          <p:cNvSpPr/>
          <p:nvPr/>
        </p:nvSpPr>
        <p:spPr>
          <a:xfrm>
            <a:off x="4021200" y="9721800"/>
            <a:ext cx="3075120" cy="50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9938"/>
            <a:ext cx="5110163" cy="3833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709560" y="4861080"/>
            <a:ext cx="5678640" cy="46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:notes"/>
          <p:cNvSpPr/>
          <p:nvPr/>
        </p:nvSpPr>
        <p:spPr>
          <a:xfrm>
            <a:off x="4021200" y="9721800"/>
            <a:ext cx="3075120" cy="50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2933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9938"/>
            <a:ext cx="5110163" cy="3833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709560" y="4861080"/>
            <a:ext cx="5678640" cy="46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:notes"/>
          <p:cNvSpPr/>
          <p:nvPr/>
        </p:nvSpPr>
        <p:spPr>
          <a:xfrm>
            <a:off x="4021200" y="9721800"/>
            <a:ext cx="3075120" cy="50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9938"/>
            <a:ext cx="5110163" cy="3833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6" name="Google Shape;686;p55:notes"/>
          <p:cNvSpPr txBox="1">
            <a:spLocks noGrp="1"/>
          </p:cNvSpPr>
          <p:nvPr>
            <p:ph type="body" idx="1"/>
          </p:nvPr>
        </p:nvSpPr>
        <p:spPr>
          <a:xfrm>
            <a:off x="709560" y="4861080"/>
            <a:ext cx="5678640" cy="46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5:notes"/>
          <p:cNvSpPr/>
          <p:nvPr/>
        </p:nvSpPr>
        <p:spPr>
          <a:xfrm>
            <a:off x="4021200" y="9721800"/>
            <a:ext cx="3075120" cy="50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5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/>
          <p:nvPr/>
        </p:nvSpPr>
        <p:spPr>
          <a:xfrm>
            <a:off x="357120" y="5857920"/>
            <a:ext cx="8785440" cy="355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214200" y="2133720"/>
            <a:ext cx="8713800" cy="190656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i="0" u="none" strike="noStrike" cap="small" dirty="0">
                <a:solidFill>
                  <a:srgbClr val="00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Testing and refactoring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57920"/>
            <a:ext cx="312840" cy="355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755640" y="4149000"/>
            <a:ext cx="7015320" cy="12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Programming Methodology</a:t>
            </a: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" descr="C:\Users\Candy\Desktop\escudos\escudo_con_degradado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8840" y="423000"/>
            <a:ext cx="1036080" cy="7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"/>
          <p:cNvSpPr/>
          <p:nvPr/>
        </p:nvSpPr>
        <p:spPr>
          <a:xfrm>
            <a:off x="1230120" y="567000"/>
            <a:ext cx="44629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of Computing Engineering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120" y="351000"/>
            <a:ext cx="862560" cy="77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dirty="0">
                <a:latin typeface="Calibri"/>
                <a:cs typeface="Calibri"/>
                <a:sym typeface="Calibri"/>
              </a:rPr>
              <a:t>D</a:t>
            </a:r>
            <a:r>
              <a:rPr lang="en-GB" sz="4400" dirty="0" err="1">
                <a:latin typeface="Calibri"/>
                <a:cs typeface="Calibri"/>
                <a:sym typeface="Calibri"/>
              </a:rPr>
              <a:t>ebugging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95650" y="1699552"/>
            <a:ext cx="8228100" cy="43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000" b="1" dirty="0">
                <a:latin typeface="Calibri"/>
                <a:cs typeface="Calibri"/>
              </a:rPr>
              <a:t>Finding and fixing bugs </a:t>
            </a:r>
            <a:r>
              <a:rPr lang="en-GB" sz="2000" dirty="0">
                <a:latin typeface="Calibri"/>
                <a:cs typeface="Calibri"/>
              </a:rPr>
              <a:t>(defects) in programs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000" b="1" dirty="0">
                <a:latin typeface="Calibri"/>
                <a:cs typeface="Calibri"/>
              </a:rPr>
              <a:t>Debugger</a:t>
            </a:r>
            <a:r>
              <a:rPr lang="en-GB" sz="2000" dirty="0">
                <a:latin typeface="Calibri"/>
                <a:cs typeface="Calibri"/>
              </a:rPr>
              <a:t> Program that can </a:t>
            </a:r>
            <a:r>
              <a:rPr lang="en-GB" sz="2000" b="1" dirty="0">
                <a:latin typeface="Calibri"/>
                <a:cs typeface="Calibri"/>
              </a:rPr>
              <a:t>run your program line by line </a:t>
            </a:r>
            <a:r>
              <a:rPr lang="en-GB" sz="2000" dirty="0">
                <a:latin typeface="Calibri"/>
                <a:cs typeface="Calibri"/>
              </a:rPr>
              <a:t>showing you exactly how the computer sees your code at any moment during execution</a:t>
            </a:r>
          </a:p>
          <a:p>
            <a:pPr marL="864000" lvl="1" indent="-322919">
              <a:spcBef>
                <a:spcPts val="1134"/>
              </a:spcBef>
              <a:buSzPts val="1536"/>
              <a:buFont typeface="Calibri"/>
              <a:buChar char="−"/>
            </a:pPr>
            <a:r>
              <a:rPr lang="en-GB" sz="2100" dirty="0">
                <a:latin typeface="Calibri"/>
                <a:cs typeface="Calibri"/>
              </a:rPr>
              <a:t>Think of the debugger as the VAR  in football, allowing you to see </a:t>
            </a:r>
            <a:r>
              <a:rPr lang="en-GB" sz="2100" b="1" dirty="0">
                <a:latin typeface="Calibri"/>
                <a:cs typeface="Calibri"/>
              </a:rPr>
              <a:t>step by step </a:t>
            </a:r>
            <a:r>
              <a:rPr lang="en-GB" sz="2100" dirty="0">
                <a:latin typeface="Calibri"/>
                <a:cs typeface="Calibri"/>
              </a:rPr>
              <a:t>what happened in a given play. </a:t>
            </a:r>
          </a:p>
          <a:p>
            <a:pPr marL="864000" lvl="1" indent="-322919">
              <a:spcBef>
                <a:spcPts val="1134"/>
              </a:spcBef>
              <a:buSzPts val="1536"/>
              <a:buFont typeface="Calibri"/>
              <a:buChar char="−"/>
            </a:pPr>
            <a:r>
              <a:rPr lang="en-GB" sz="2100" dirty="0">
                <a:latin typeface="Calibri"/>
                <a:cs typeface="Calibri"/>
              </a:rPr>
              <a:t>The debugger should be considered your best friend while programming.</a:t>
            </a:r>
          </a:p>
          <a:p>
            <a:pPr marL="864000" lvl="1" indent="-322919">
              <a:spcBef>
                <a:spcPts val="1134"/>
              </a:spcBef>
              <a:buSzPts val="1536"/>
              <a:buFont typeface="Calibri"/>
              <a:buChar char="−"/>
            </a:pPr>
            <a:r>
              <a:rPr lang="en-GB" sz="2100" dirty="0">
                <a:latin typeface="Calibri"/>
                <a:cs typeface="Calibri"/>
              </a:rPr>
              <a:t>Using the debugger to find errors can greatly reduce the time it takes to fix errors in a program.</a:t>
            </a:r>
            <a:endParaRPr sz="2100" dirty="0">
              <a:latin typeface="Calibri"/>
              <a:cs typeface="Calibri"/>
              <a:sym typeface="Calibri"/>
            </a:endParaRPr>
          </a:p>
        </p:txBody>
      </p:sp>
      <p:pic>
        <p:nvPicPr>
          <p:cNvPr id="91" name="Google Shape;9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" name="Google Shape;93;p3"/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>
                <a:latin typeface="Calibri"/>
                <a:ea typeface="Calibri"/>
                <a:cs typeface="Calibri"/>
                <a:sym typeface="Calibri"/>
              </a:rPr>
              <a:t>Breakpoint</a:t>
            </a:r>
            <a:r>
              <a:rPr lang="en-GB" sz="4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100" dirty="0">
                <a:solidFill>
                  <a:schemeClr val="tx1"/>
                </a:solidFill>
                <a:latin typeface="Calibri"/>
                <a:cs typeface="Calibri"/>
              </a:rPr>
              <a:t>Breakpoints can be set by clicking in the right side of the file being edited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endParaRPr lang="en-GB" sz="21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endParaRPr lang="en-GB" sz="21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endParaRPr lang="en-GB" sz="21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endParaRPr lang="en-GB" sz="21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endParaRPr lang="en-GB" sz="21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100" dirty="0">
                <a:solidFill>
                  <a:schemeClr val="tx1"/>
                </a:solidFill>
                <a:latin typeface="Calibri"/>
                <a:cs typeface="Calibri"/>
              </a:rPr>
              <a:t>Breakpoints can be customized indicating</a:t>
            </a:r>
          </a:p>
          <a:p>
            <a:pPr marL="914400" lvl="1" indent="-358647">
              <a:lnSpc>
                <a:spcPct val="110000"/>
              </a:lnSpc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−"/>
            </a:pPr>
            <a:r>
              <a:rPr lang="en-GB" sz="2048" dirty="0">
                <a:latin typeface="Calibri"/>
                <a:cs typeface="Calibri"/>
              </a:rPr>
              <a:t>The number of “hits” (times the execution flow has reached that point)</a:t>
            </a:r>
          </a:p>
          <a:p>
            <a:pPr marL="914400" lvl="1" indent="-358647">
              <a:lnSpc>
                <a:spcPct val="110000"/>
              </a:lnSpc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−"/>
            </a:pPr>
            <a:r>
              <a:rPr lang="en-GB" sz="2048" dirty="0">
                <a:latin typeface="Calibri"/>
                <a:cs typeface="Calibri"/>
              </a:rPr>
              <a:t>A conditional expression</a:t>
            </a:r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4"/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4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52;p4">
            <a:extLst>
              <a:ext uri="{FF2B5EF4-FFF2-40B4-BE49-F238E27FC236}">
                <a16:creationId xmlns:a16="http://schemas.microsoft.com/office/drawing/2014/main" id="{7AD5FF6B-9C19-FE90-7942-83AF2FF4D7C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33117" y="2605421"/>
            <a:ext cx="7297920" cy="1495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Debug perspective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7" name="Google Shape;117;p5"/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5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DEBUGGING JAVA PROGRAMS USING ECLIPSE DEBUGGER - ppt download">
            <a:extLst>
              <a:ext uri="{FF2B5EF4-FFF2-40B4-BE49-F238E27FC236}">
                <a16:creationId xmlns:a16="http://schemas.microsoft.com/office/drawing/2014/main" id="{10BAEDFD-9B92-9397-96C8-BD779A60D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9" b="24347"/>
          <a:stretch/>
        </p:blipFill>
        <p:spPr bwMode="auto">
          <a:xfrm>
            <a:off x="-1440" y="1812657"/>
            <a:ext cx="9144000" cy="446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FCA154-6429-2B35-D99E-C67B94E26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492" y="577023"/>
            <a:ext cx="762000" cy="6000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24C10A-A01E-599A-0A0D-F6527380BDDF}"/>
              </a:ext>
            </a:extLst>
          </p:cNvPr>
          <p:cNvSpPr txBox="1"/>
          <p:nvPr/>
        </p:nvSpPr>
        <p:spPr>
          <a:xfrm>
            <a:off x="312840" y="6451762"/>
            <a:ext cx="1515158" cy="30777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s-ES" b="1" dirty="0" err="1">
                <a:solidFill>
                  <a:schemeClr val="bg1"/>
                </a:solidFill>
              </a:rPr>
              <a:t>Last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err="1">
                <a:solidFill>
                  <a:schemeClr val="bg1"/>
                </a:solidFill>
              </a:rPr>
              <a:t>breakpoint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F935577-4A1F-00AA-1D0E-6235F6DA1E2B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187209" y="4740965"/>
            <a:ext cx="125631" cy="18646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3D55756-92CC-510A-25AE-78D169A2DB45}"/>
              </a:ext>
            </a:extLst>
          </p:cNvPr>
          <p:cNvSpPr txBox="1"/>
          <p:nvPr/>
        </p:nvSpPr>
        <p:spPr>
          <a:xfrm>
            <a:off x="3859554" y="6480312"/>
            <a:ext cx="3004349" cy="30777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s-ES" b="1" dirty="0" err="1">
                <a:solidFill>
                  <a:schemeClr val="bg1"/>
                </a:solidFill>
              </a:rPr>
              <a:t>Current</a:t>
            </a:r>
            <a:r>
              <a:rPr lang="es-ES" b="1" dirty="0">
                <a:solidFill>
                  <a:schemeClr val="bg1"/>
                </a:solidFill>
              </a:rPr>
              <a:t> line </a:t>
            </a:r>
            <a:r>
              <a:rPr lang="es-ES" b="1" dirty="0" err="1">
                <a:solidFill>
                  <a:schemeClr val="bg1"/>
                </a:solidFill>
              </a:rPr>
              <a:t>of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err="1">
                <a:solidFill>
                  <a:schemeClr val="bg1"/>
                </a:solidFill>
              </a:rPr>
              <a:t>code</a:t>
            </a:r>
            <a:r>
              <a:rPr lang="es-ES" b="1" dirty="0">
                <a:solidFill>
                  <a:schemeClr val="bg1"/>
                </a:solidFill>
              </a:rPr>
              <a:t> (</a:t>
            </a:r>
            <a:r>
              <a:rPr lang="es-ES" b="1" dirty="0" err="1">
                <a:solidFill>
                  <a:schemeClr val="bg1"/>
                </a:solidFill>
              </a:rPr>
              <a:t>highlighted</a:t>
            </a:r>
            <a:r>
              <a:rPr lang="es-ES" b="1" dirty="0">
                <a:solidFill>
                  <a:schemeClr val="bg1"/>
                </a:solidFill>
              </a:rPr>
              <a:t>)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CCD5005-AA9A-189C-8CB1-C28DE3922D2B}"/>
              </a:ext>
            </a:extLst>
          </p:cNvPr>
          <p:cNvSpPr/>
          <p:nvPr/>
        </p:nvSpPr>
        <p:spPr>
          <a:xfrm>
            <a:off x="69573" y="4572000"/>
            <a:ext cx="187209" cy="1689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037445D-5C63-DC85-62B5-CF30C865A930}"/>
              </a:ext>
            </a:extLst>
          </p:cNvPr>
          <p:cNvSpPr/>
          <p:nvPr/>
        </p:nvSpPr>
        <p:spPr>
          <a:xfrm>
            <a:off x="457200" y="4542183"/>
            <a:ext cx="6095880" cy="2484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14F3389-1A33-FB04-D534-BE74FE72CECB}"/>
              </a:ext>
            </a:extLst>
          </p:cNvPr>
          <p:cNvCxnSpPr>
            <a:cxnSpLocks/>
          </p:cNvCxnSpPr>
          <p:nvPr/>
        </p:nvCxnSpPr>
        <p:spPr>
          <a:xfrm flipH="1" flipV="1">
            <a:off x="1434198" y="4790661"/>
            <a:ext cx="2423916" cy="18646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10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 debugging commands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9" name="Google Shape;129;p6"/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6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DCE93D-D4C7-1D40-D490-0B17AABA2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209800"/>
            <a:ext cx="554355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5;p6">
            <a:extLst>
              <a:ext uri="{FF2B5EF4-FFF2-40B4-BE49-F238E27FC236}">
                <a16:creationId xmlns:a16="http://schemas.microsoft.com/office/drawing/2014/main" id="{93315BB7-CD51-0151-3553-50F71A3DDE90}"/>
              </a:ext>
            </a:extLst>
          </p:cNvPr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Refactoring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27;p6">
            <a:extLst>
              <a:ext uri="{FF2B5EF4-FFF2-40B4-BE49-F238E27FC236}">
                <a16:creationId xmlns:a16="http://schemas.microsoft.com/office/drawing/2014/main" id="{5128B2AA-D1AF-1F6B-F0BB-9B35AA4EB1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8;p6">
            <a:extLst>
              <a:ext uri="{FF2B5EF4-FFF2-40B4-BE49-F238E27FC236}">
                <a16:creationId xmlns:a16="http://schemas.microsoft.com/office/drawing/2014/main" id="{EC7C58EA-88BA-713C-DDB4-BC1732F87951}"/>
              </a:ext>
            </a:extLst>
          </p:cNvPr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" name="Google Shape;129;p6">
            <a:extLst>
              <a:ext uri="{FF2B5EF4-FFF2-40B4-BE49-F238E27FC236}">
                <a16:creationId xmlns:a16="http://schemas.microsoft.com/office/drawing/2014/main" id="{AA1DE00D-380C-4AA0-899F-323C6BCCEFC2}"/>
              </a:ext>
            </a:extLst>
          </p:cNvPr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30;p6">
            <a:extLst>
              <a:ext uri="{FF2B5EF4-FFF2-40B4-BE49-F238E27FC236}">
                <a16:creationId xmlns:a16="http://schemas.microsoft.com/office/drawing/2014/main" id="{2B67E707-3017-8628-B5A2-35686FB78466}"/>
              </a:ext>
            </a:extLst>
          </p:cNvPr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7D5D2E75-C8F8-5E10-B522-B765960FC598}"/>
              </a:ext>
            </a:extLst>
          </p:cNvPr>
          <p:cNvSpPr txBox="1">
            <a:spLocks/>
          </p:cNvSpPr>
          <p:nvPr/>
        </p:nvSpPr>
        <p:spPr>
          <a:xfrm>
            <a:off x="457201" y="1604520"/>
            <a:ext cx="8228159" cy="44440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000" dirty="0">
                <a:latin typeface="Calibri"/>
                <a:cs typeface="Calibri"/>
              </a:rPr>
              <a:t>Code refactoring is a </a:t>
            </a:r>
            <a:r>
              <a:rPr lang="en-GB" sz="2000" b="1" dirty="0">
                <a:latin typeface="Calibri"/>
                <a:cs typeface="Calibri"/>
              </a:rPr>
              <a:t>disciplined technique for restructuring an existing body of code, altering its internal structure without changing its external behaviour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000" dirty="0">
                <a:latin typeface="Calibri"/>
                <a:cs typeface="Calibri"/>
              </a:rPr>
              <a:t>Its purpose is to improve some of the non-functional attributes of the software</a:t>
            </a:r>
          </a:p>
          <a:p>
            <a:pPr marL="914400" lvl="1" indent="-358647">
              <a:lnSpc>
                <a:spcPct val="110000"/>
              </a:lnSpc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−"/>
            </a:pPr>
            <a:r>
              <a:rPr lang="en-GB" sz="2048" dirty="0">
                <a:latin typeface="Calibri"/>
                <a:cs typeface="Calibri"/>
              </a:rPr>
              <a:t>Maintainability, readability, runtime performance…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000" dirty="0">
                <a:latin typeface="Calibri"/>
                <a:cs typeface="Calibri"/>
              </a:rPr>
              <a:t>There are lots of refactoring techniques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000" dirty="0">
                <a:latin typeface="Calibri"/>
                <a:cs typeface="Calibri"/>
              </a:rPr>
              <a:t>Many are supported by the Eclipse IDE</a:t>
            </a:r>
          </a:p>
          <a:p>
            <a:pPr marL="914400" lvl="1" indent="-358647">
              <a:lnSpc>
                <a:spcPct val="110000"/>
              </a:lnSpc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−"/>
            </a:pPr>
            <a:r>
              <a:rPr lang="en-GB" sz="2048" dirty="0">
                <a:latin typeface="Calibri"/>
                <a:cs typeface="Calibri"/>
              </a:rPr>
              <a:t>See the Refactor menu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000" dirty="0">
                <a:latin typeface="Calibri"/>
                <a:cs typeface="Calibri"/>
              </a:rPr>
              <a:t>We will learn them when we require their use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333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5;p6">
            <a:extLst>
              <a:ext uri="{FF2B5EF4-FFF2-40B4-BE49-F238E27FC236}">
                <a16:creationId xmlns:a16="http://schemas.microsoft.com/office/drawing/2014/main" id="{93315BB7-CD51-0151-3553-50F71A3DDE90}"/>
              </a:ext>
            </a:extLst>
          </p:cNvPr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27;p6">
            <a:extLst>
              <a:ext uri="{FF2B5EF4-FFF2-40B4-BE49-F238E27FC236}">
                <a16:creationId xmlns:a16="http://schemas.microsoft.com/office/drawing/2014/main" id="{5128B2AA-D1AF-1F6B-F0BB-9B35AA4EB1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8;p6">
            <a:extLst>
              <a:ext uri="{FF2B5EF4-FFF2-40B4-BE49-F238E27FC236}">
                <a16:creationId xmlns:a16="http://schemas.microsoft.com/office/drawing/2014/main" id="{EC7C58EA-88BA-713C-DDB4-BC1732F87951}"/>
              </a:ext>
            </a:extLst>
          </p:cNvPr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" name="Google Shape;129;p6">
            <a:extLst>
              <a:ext uri="{FF2B5EF4-FFF2-40B4-BE49-F238E27FC236}">
                <a16:creationId xmlns:a16="http://schemas.microsoft.com/office/drawing/2014/main" id="{AA1DE00D-380C-4AA0-899F-323C6BCCEFC2}"/>
              </a:ext>
            </a:extLst>
          </p:cNvPr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30;p6">
            <a:extLst>
              <a:ext uri="{FF2B5EF4-FFF2-40B4-BE49-F238E27FC236}">
                <a16:creationId xmlns:a16="http://schemas.microsoft.com/office/drawing/2014/main" id="{2B67E707-3017-8628-B5A2-35686FB78466}"/>
              </a:ext>
            </a:extLst>
          </p:cNvPr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7D5D2E75-C8F8-5E10-B522-B765960FC598}"/>
              </a:ext>
            </a:extLst>
          </p:cNvPr>
          <p:cNvSpPr txBox="1">
            <a:spLocks/>
          </p:cNvSpPr>
          <p:nvPr/>
        </p:nvSpPr>
        <p:spPr>
          <a:xfrm>
            <a:off x="457201" y="1604520"/>
            <a:ext cx="8228159" cy="44440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400" dirty="0">
                <a:latin typeface="Calibri"/>
                <a:cs typeface="Calibri"/>
              </a:rPr>
              <a:t>Let’s revisit our </a:t>
            </a:r>
            <a:r>
              <a:rPr lang="en-GB" sz="2400" b="1" dirty="0">
                <a:latin typeface="Calibri"/>
                <a:cs typeface="Calibri"/>
              </a:rPr>
              <a:t>game</a:t>
            </a:r>
            <a:r>
              <a:rPr lang="en-GB" sz="2400" dirty="0">
                <a:latin typeface="Calibri"/>
                <a:cs typeface="Calibri"/>
              </a:rPr>
              <a:t> project 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400" dirty="0">
                <a:latin typeface="Calibri"/>
                <a:cs typeface="Calibri"/>
              </a:rPr>
              <a:t>In case we want to rename the class to Game2048 we should</a:t>
            </a:r>
          </a:p>
          <a:p>
            <a:pPr marL="914400" lvl="1" indent="-455400">
              <a:lnSpc>
                <a:spcPct val="100000"/>
              </a:lnSpc>
              <a:spcBef>
                <a:spcPts val="479"/>
              </a:spcBef>
              <a:buClr>
                <a:srgbClr val="666699"/>
              </a:buClr>
              <a:buFont typeface="Times New Roman"/>
              <a:buAutoNum type="arabicPeriod"/>
            </a:pPr>
            <a:r>
              <a:rPr lang="en-GB" sz="2400" dirty="0">
                <a:latin typeface="Calibri"/>
                <a:cs typeface="Calibri"/>
              </a:rPr>
              <a:t>Rename the name of the class</a:t>
            </a:r>
          </a:p>
          <a:p>
            <a:pPr marL="914400" lvl="1" indent="-455400">
              <a:lnSpc>
                <a:spcPct val="100000"/>
              </a:lnSpc>
              <a:spcBef>
                <a:spcPts val="479"/>
              </a:spcBef>
              <a:buClr>
                <a:srgbClr val="666699"/>
              </a:buClr>
              <a:buFont typeface="Times New Roman"/>
              <a:buAutoNum type="arabicPeriod"/>
            </a:pPr>
            <a:r>
              <a:rPr lang="en-GB" sz="2400" dirty="0">
                <a:latin typeface="Calibri"/>
                <a:cs typeface="Calibri"/>
              </a:rPr>
              <a:t>Rename the constructor</a:t>
            </a:r>
          </a:p>
          <a:p>
            <a:pPr marL="914400" lvl="1" indent="-455400">
              <a:lnSpc>
                <a:spcPct val="100000"/>
              </a:lnSpc>
              <a:spcBef>
                <a:spcPts val="479"/>
              </a:spcBef>
              <a:buClr>
                <a:srgbClr val="666699"/>
              </a:buClr>
              <a:buFont typeface="Times New Roman"/>
              <a:buAutoNum type="arabicPeriod"/>
            </a:pPr>
            <a:r>
              <a:rPr lang="en-GB" sz="2400" dirty="0">
                <a:latin typeface="Calibri"/>
                <a:cs typeface="Calibri"/>
              </a:rPr>
              <a:t>Change the type of </a:t>
            </a:r>
            <a:r>
              <a:rPr lang="en-GB" sz="2400" b="1" dirty="0">
                <a:latin typeface="Calibri"/>
                <a:cs typeface="Calibri"/>
              </a:rPr>
              <a:t>every</a:t>
            </a:r>
            <a:r>
              <a:rPr lang="en-GB" sz="2400" dirty="0">
                <a:latin typeface="Calibri"/>
                <a:cs typeface="Calibri"/>
              </a:rPr>
              <a:t> Game2048 variable (even in other files such as GameApp.java)</a:t>
            </a:r>
          </a:p>
          <a:p>
            <a:pPr marL="914400" lvl="1" indent="-455400">
              <a:lnSpc>
                <a:spcPct val="100000"/>
              </a:lnSpc>
              <a:spcBef>
                <a:spcPts val="479"/>
              </a:spcBef>
              <a:buClr>
                <a:srgbClr val="666699"/>
              </a:buClr>
              <a:buFont typeface="Times New Roman"/>
              <a:buAutoNum type="arabicPeriod"/>
            </a:pPr>
            <a:r>
              <a:rPr lang="en-GB" sz="2400" dirty="0">
                <a:latin typeface="Calibri"/>
                <a:cs typeface="Calibri"/>
              </a:rPr>
              <a:t>Change the invocation to </a:t>
            </a:r>
            <a:r>
              <a:rPr lang="en-GB" sz="2400" b="1" dirty="0">
                <a:latin typeface="Calibri"/>
                <a:cs typeface="Calibri"/>
              </a:rPr>
              <a:t>every</a:t>
            </a:r>
            <a:r>
              <a:rPr lang="en-GB" sz="2400" dirty="0">
                <a:latin typeface="Calibri"/>
                <a:cs typeface="Calibri"/>
              </a:rPr>
              <a:t> constructor (even in other files such as GameApp.java)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400" dirty="0">
                <a:latin typeface="Calibri"/>
                <a:cs typeface="Calibri"/>
              </a:rPr>
              <a:t>It might seem a simple task, but it is </a:t>
            </a:r>
            <a:r>
              <a:rPr lang="en-GB" sz="2400" b="1" dirty="0">
                <a:latin typeface="Calibri"/>
                <a:cs typeface="Calibri"/>
              </a:rPr>
              <a:t>error-prone</a:t>
            </a:r>
            <a:r>
              <a:rPr lang="en-GB" sz="2400" dirty="0">
                <a:latin typeface="Calibri"/>
                <a:cs typeface="Calibri"/>
              </a:rPr>
              <a:t> and commonly involves an </a:t>
            </a:r>
            <a:r>
              <a:rPr lang="en-GB" sz="2400" b="1" dirty="0">
                <a:latin typeface="Calibri"/>
                <a:cs typeface="Calibri"/>
              </a:rPr>
              <a:t>important waste of time</a:t>
            </a:r>
            <a:endParaRPr lang="en-GB" sz="2000" dirty="0">
              <a:latin typeface="Calibri"/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878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5;p6">
            <a:extLst>
              <a:ext uri="{FF2B5EF4-FFF2-40B4-BE49-F238E27FC236}">
                <a16:creationId xmlns:a16="http://schemas.microsoft.com/office/drawing/2014/main" id="{93315BB7-CD51-0151-3553-50F71A3DDE90}"/>
              </a:ext>
            </a:extLst>
          </p:cNvPr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27;p6">
            <a:extLst>
              <a:ext uri="{FF2B5EF4-FFF2-40B4-BE49-F238E27FC236}">
                <a16:creationId xmlns:a16="http://schemas.microsoft.com/office/drawing/2014/main" id="{5128B2AA-D1AF-1F6B-F0BB-9B35AA4EB1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8;p6">
            <a:extLst>
              <a:ext uri="{FF2B5EF4-FFF2-40B4-BE49-F238E27FC236}">
                <a16:creationId xmlns:a16="http://schemas.microsoft.com/office/drawing/2014/main" id="{EC7C58EA-88BA-713C-DDB4-BC1732F87951}"/>
              </a:ext>
            </a:extLst>
          </p:cNvPr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" name="Google Shape;129;p6">
            <a:extLst>
              <a:ext uri="{FF2B5EF4-FFF2-40B4-BE49-F238E27FC236}">
                <a16:creationId xmlns:a16="http://schemas.microsoft.com/office/drawing/2014/main" id="{AA1DE00D-380C-4AA0-899F-323C6BCCEFC2}"/>
              </a:ext>
            </a:extLst>
          </p:cNvPr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30;p6">
            <a:extLst>
              <a:ext uri="{FF2B5EF4-FFF2-40B4-BE49-F238E27FC236}">
                <a16:creationId xmlns:a16="http://schemas.microsoft.com/office/drawing/2014/main" id="{2B67E707-3017-8628-B5A2-35686FB78466}"/>
              </a:ext>
            </a:extLst>
          </p:cNvPr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7D5D2E75-C8F8-5E10-B522-B765960FC598}"/>
              </a:ext>
            </a:extLst>
          </p:cNvPr>
          <p:cNvSpPr txBox="1">
            <a:spLocks/>
          </p:cNvSpPr>
          <p:nvPr/>
        </p:nvSpPr>
        <p:spPr>
          <a:xfrm>
            <a:off x="457201" y="1604520"/>
            <a:ext cx="8228159" cy="44440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400" dirty="0">
                <a:latin typeface="Calibri"/>
                <a:cs typeface="Calibri"/>
              </a:rPr>
              <a:t>Renaming a type or variable is very simple</a:t>
            </a:r>
          </a:p>
          <a:p>
            <a:pPr marL="914400" lvl="1" indent="-358647">
              <a:lnSpc>
                <a:spcPct val="110000"/>
              </a:lnSpc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−"/>
            </a:pPr>
            <a:r>
              <a:rPr lang="en-GB" sz="2048" dirty="0">
                <a:latin typeface="Calibri"/>
                <a:cs typeface="Calibri"/>
              </a:rPr>
              <a:t>Menu: Refactor | Rename</a:t>
            </a:r>
          </a:p>
          <a:p>
            <a:pPr marL="914400" lvl="1" indent="-358647">
              <a:lnSpc>
                <a:spcPct val="110000"/>
              </a:lnSpc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−"/>
            </a:pPr>
            <a:r>
              <a:rPr lang="en-GB" sz="2048" dirty="0">
                <a:latin typeface="Calibri"/>
                <a:cs typeface="Calibri"/>
              </a:rPr>
              <a:t>Shortcut: Alt + Shift + R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400" dirty="0">
                <a:latin typeface="Calibri"/>
                <a:cs typeface="Calibri"/>
              </a:rPr>
              <a:t>The Eclipse IDE performs the five steps for you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400" dirty="0">
                <a:latin typeface="Calibri"/>
                <a:cs typeface="Calibri"/>
              </a:rPr>
              <a:t>Let’s change the name of our project from lab01 to lab02 !</a:t>
            </a: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r>
              <a:rPr lang="en-GB" sz="2400" dirty="0">
                <a:latin typeface="Calibri"/>
                <a:cs typeface="Calibri"/>
              </a:rPr>
              <a:t>Let’s change the package lab01 to </a:t>
            </a:r>
            <a:r>
              <a:rPr lang="en-GB" sz="2400">
                <a:latin typeface="Calibri"/>
                <a:cs typeface="Calibri"/>
              </a:rPr>
              <a:t>lab02 !</a:t>
            </a:r>
            <a:endParaRPr lang="en-GB" sz="2400" dirty="0">
              <a:latin typeface="Calibri"/>
              <a:cs typeface="Calibri"/>
            </a:endParaRPr>
          </a:p>
          <a:p>
            <a:pPr marL="343080" indent="-341640">
              <a:spcBef>
                <a:spcPts val="641"/>
              </a:spcBef>
              <a:buClr>
                <a:srgbClr val="0033CC"/>
              </a:buClr>
              <a:buSzPts val="2048"/>
              <a:buFont typeface="Calibri"/>
              <a:buChar char="•"/>
            </a:pPr>
            <a:endParaRPr lang="en-GB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500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4"/>
          <p:cNvSpPr/>
          <p:nvPr/>
        </p:nvSpPr>
        <p:spPr>
          <a:xfrm>
            <a:off x="457200" y="2853000"/>
            <a:ext cx="8228160" cy="10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 DO</a:t>
            </a:r>
            <a:endParaRPr sz="4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4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5"/>
          <p:cNvSpPr/>
          <p:nvPr/>
        </p:nvSpPr>
        <p:spPr>
          <a:xfrm>
            <a:off x="457200" y="28404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do</a:t>
            </a:r>
            <a:endParaRPr sz="4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5"/>
          <p:cNvSpPr/>
          <p:nvPr/>
        </p:nvSpPr>
        <p:spPr>
          <a:xfrm>
            <a:off x="323640" y="1495440"/>
            <a:ext cx="8818920" cy="452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799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33CC"/>
              </a:buClr>
              <a:buSzPts val="2148"/>
              <a:buFont typeface="Calibri"/>
              <a:buChar char="•"/>
            </a:pPr>
            <a:r>
              <a:rPr lang="en-GB" sz="2400" dirty="0">
                <a:solidFill>
                  <a:schemeClr val="dk1"/>
                </a:solidFill>
              </a:rPr>
              <a:t>Rename the project</a:t>
            </a:r>
            <a:endParaRPr lang="en-US" sz="2400" dirty="0"/>
          </a:p>
          <a:p>
            <a:pPr marL="0" marR="0" lvl="0" indent="0" algn="ctr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surname1_surname2_name_lab02_game</a:t>
            </a:r>
            <a:endParaRPr sz="2400" dirty="0"/>
          </a:p>
          <a:p>
            <a:pPr marL="343080" marR="0" lvl="0" indent="-34799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33CC"/>
              </a:buClr>
              <a:buSzPts val="2148"/>
              <a:buFont typeface="Calibri"/>
              <a:buChar char="•"/>
            </a:pPr>
            <a:r>
              <a:rPr lang="en-GB" sz="2400"/>
              <a:t>Complete it</a:t>
            </a:r>
          </a:p>
          <a:p>
            <a:pPr marL="343080" marR="0" lvl="0" indent="-34799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33CC"/>
              </a:buClr>
              <a:buSzPts val="2148"/>
              <a:buFont typeface="Calibri"/>
              <a:buChar char="•"/>
            </a:pPr>
            <a:r>
              <a:rPr lang="en-GB" sz="2400" dirty="0"/>
              <a:t>Review your project and complete the checklist.</a:t>
            </a:r>
          </a:p>
          <a:p>
            <a:pPr marL="343080" lvl="1" indent="-347990">
              <a:spcBef>
                <a:spcPts val="641"/>
              </a:spcBef>
              <a:buClr>
                <a:srgbClr val="0033CC"/>
              </a:buClr>
              <a:buSzPts val="2148"/>
              <a:buFont typeface="Calibri"/>
              <a:buChar char="•"/>
            </a:pPr>
            <a:r>
              <a:rPr lang="en-GB" sz="2400" dirty="0"/>
              <a:t>Fill it and copy it inside the root of your project, before exporting</a:t>
            </a:r>
            <a:endParaRPr sz="2400" dirty="0"/>
          </a:p>
        </p:txBody>
      </p:sp>
      <p:pic>
        <p:nvPicPr>
          <p:cNvPr id="691" name="Google Shape;69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8840"/>
            <a:ext cx="312840" cy="6984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5"/>
          <p:cNvSpPr/>
          <p:nvPr/>
        </p:nvSpPr>
        <p:spPr>
          <a:xfrm>
            <a:off x="357120" y="1428840"/>
            <a:ext cx="8785440" cy="69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3" name="Google Shape;693;p55"/>
          <p:cNvCxnSpPr/>
          <p:nvPr/>
        </p:nvCxnSpPr>
        <p:spPr>
          <a:xfrm>
            <a:off x="1357200" y="6286320"/>
            <a:ext cx="7786800" cy="1440"/>
          </a:xfrm>
          <a:prstGeom prst="straightConnector1">
            <a:avLst/>
          </a:prstGeom>
          <a:noFill/>
          <a:ln w="25550" cap="flat" cmpd="sng">
            <a:solidFill>
              <a:srgbClr val="005E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4" name="Google Shape;694;p55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410</Words>
  <Application>Microsoft Office PowerPoint</Application>
  <PresentationFormat>Presentación en pantalla (4:3)</PresentationFormat>
  <Paragraphs>69</Paragraphs>
  <Slides>10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Arial Rounded</vt:lpstr>
      <vt:lpstr>Calibri</vt:lpstr>
      <vt:lpstr>Courier New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Elías Palacios González</dc:creator>
  <cp:lastModifiedBy>MARIA LOURDES TAJES MARTINEZ</cp:lastModifiedBy>
  <cp:revision>45</cp:revision>
  <dcterms:created xsi:type="dcterms:W3CDTF">2009-02-21T12:50:29Z</dcterms:created>
  <dcterms:modified xsi:type="dcterms:W3CDTF">2024-01-23T08:29:54Z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43</vt:i4>
  </property>
  <property fmtid="{D5CDD505-2E9C-101B-9397-08002B2CF9AE}" pid="8" name="PresentationFormat">
    <vt:lpwstr>Presentación en pantalla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51</vt:i4>
  </property>
</Properties>
</file>